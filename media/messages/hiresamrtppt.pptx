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6" r:id="rId1"/>
  </p:sldMasterIdLst>
  <p:notesMasterIdLst>
    <p:notesMasterId r:id="rId50"/>
  </p:notesMasterIdLst>
  <p:sldIdLst>
    <p:sldId id="257" r:id="rId2"/>
    <p:sldId id="29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87" r:id="rId24"/>
    <p:sldId id="288" r:id="rId25"/>
    <p:sldId id="278" r:id="rId26"/>
    <p:sldId id="279" r:id="rId27"/>
    <p:sldId id="280" r:id="rId28"/>
    <p:sldId id="291" r:id="rId29"/>
    <p:sldId id="292" r:id="rId30"/>
    <p:sldId id="293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294" r:id="rId39"/>
    <p:sldId id="295" r:id="rId40"/>
    <p:sldId id="299" r:id="rId41"/>
    <p:sldId id="301" r:id="rId42"/>
    <p:sldId id="300" r:id="rId43"/>
    <p:sldId id="309" r:id="rId44"/>
    <p:sldId id="310" r:id="rId45"/>
    <p:sldId id="311" r:id="rId46"/>
    <p:sldId id="312" r:id="rId47"/>
    <p:sldId id="313" r:id="rId48"/>
    <p:sldId id="285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>
        <p:scale>
          <a:sx n="66" d="100"/>
          <a:sy n="66" d="100"/>
        </p:scale>
        <p:origin x="708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0F24C-E2F9-45E3-8AB1-AFDE9BDBF06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FFF4D-EE1C-44D9-83C8-DE34B79CE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7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10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3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8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08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3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2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1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4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0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58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12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8264F-887F-4AE0-A0C0-DEF87FE730C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51787-5ECF-4507-B83D-BAC8B8EC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9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7" r:id="rId1"/>
    <p:sldLayoutId id="2147484218" r:id="rId2"/>
    <p:sldLayoutId id="2147484219" r:id="rId3"/>
    <p:sldLayoutId id="2147484220" r:id="rId4"/>
    <p:sldLayoutId id="2147484221" r:id="rId5"/>
    <p:sldLayoutId id="2147484222" r:id="rId6"/>
    <p:sldLayoutId id="2147484223" r:id="rId7"/>
    <p:sldLayoutId id="2147484224" r:id="rId8"/>
    <p:sldLayoutId id="2147484225" r:id="rId9"/>
    <p:sldLayoutId id="2147484226" r:id="rId10"/>
    <p:sldLayoutId id="2147484227" r:id="rId11"/>
    <p:sldLayoutId id="214748422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1722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6080"/>
            <a:ext cx="12192000" cy="1219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097280"/>
            <a:ext cx="109728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HireSmart</a:t>
            </a:r>
            <a:endParaRPr lang="en-US" sz="6933" dirty="0"/>
          </a:p>
        </p:txBody>
      </p:sp>
      <p:sp>
        <p:nvSpPr>
          <p:cNvPr id="5" name="Text 3"/>
          <p:cNvSpPr/>
          <p:nvPr/>
        </p:nvSpPr>
        <p:spPr>
          <a:xfrm>
            <a:off x="1219200" y="26212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Recruitment Portal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8534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Solution to Automate Candidate Screening</a:t>
            </a:r>
            <a:endParaRPr lang="en-US" sz="1867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267200" y="4267200"/>
            <a:ext cx="3657600" cy="3657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9200" y="457200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Pavitra Patel  •  Nidhi Sabva  •  Drashti Sabva</a:t>
            </a:r>
            <a:endParaRPr lang="en-US" sz="1733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19200" y="512064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Hema Patel  |  CHARUSAT University  |  April 2026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21EE79-D61A-484B-9696-5DCF0B409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58" y="477079"/>
            <a:ext cx="1163431" cy="76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487680" y="1158240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219200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1219200" y="1243584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 &amp; Overview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487680" y="2231136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" y="2292096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219200" y="2316480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Tools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487680" y="3304032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" y="3364992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219200" y="3389376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Study – Existing &amp; Proposed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487680" y="4376928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680" y="4437888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219200" y="4462272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487680" y="5449824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80" y="5510784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219200" y="5535168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Modules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6217920" y="1158240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19200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949440" y="1243584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6217920" y="2231136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292096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6949440" y="2316480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Data Dictionary</a:t>
            </a:r>
            <a:endParaRPr lang="en-US" sz="1733" dirty="0"/>
          </a:p>
        </p:txBody>
      </p:sp>
      <p:sp>
        <p:nvSpPr>
          <p:cNvPr id="26" name="Shape 24"/>
          <p:cNvSpPr/>
          <p:nvPr/>
        </p:nvSpPr>
        <p:spPr>
          <a:xfrm>
            <a:off x="6217920" y="3304032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364992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6949440" y="3389376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733" dirty="0"/>
          </a:p>
        </p:txBody>
      </p:sp>
      <p:sp>
        <p:nvSpPr>
          <p:cNvPr id="29" name="Shape 27"/>
          <p:cNvSpPr/>
          <p:nvPr/>
        </p:nvSpPr>
        <p:spPr>
          <a:xfrm>
            <a:off x="6217920" y="4376928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437888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6949440" y="4462272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733" dirty="0"/>
          </a:p>
        </p:txBody>
      </p:sp>
      <p:sp>
        <p:nvSpPr>
          <p:cNvPr id="32" name="Shape 30"/>
          <p:cNvSpPr/>
          <p:nvPr/>
        </p:nvSpPr>
        <p:spPr>
          <a:xfrm>
            <a:off x="6217920" y="5449824"/>
            <a:ext cx="609600" cy="67056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5510784"/>
            <a:ext cx="60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33" dirty="0"/>
          </a:p>
        </p:txBody>
      </p:sp>
      <p:sp>
        <p:nvSpPr>
          <p:cNvPr id="34" name="Text 32"/>
          <p:cNvSpPr/>
          <p:nvPr/>
        </p:nvSpPr>
        <p:spPr>
          <a:xfrm>
            <a:off x="6949440" y="5535168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146304" cy="6760464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4800" u="sng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C8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HireSmart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876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097280"/>
            <a:ext cx="6339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1158240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5608320" y="1158240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1780032"/>
            <a:ext cx="4876800" cy="585216"/>
          </a:xfrm>
          <a:prstGeom prst="rect">
            <a:avLst/>
          </a:prstGeom>
          <a:solidFill>
            <a:srgbClr val="F5E6C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780032"/>
            <a:ext cx="6339840" cy="585216"/>
          </a:xfrm>
          <a:prstGeom prst="rect">
            <a:avLst/>
          </a:prstGeom>
          <a:solidFill>
            <a:srgbClr val="F5E6C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" y="1840992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5608320" y="1840992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Recruitment Portal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365760" y="2462784"/>
            <a:ext cx="4876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462784"/>
            <a:ext cx="6339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680" y="2523744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5608320" y="2523744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4876800" cy="585216"/>
          </a:xfrm>
          <a:prstGeom prst="rect">
            <a:avLst/>
          </a:prstGeom>
          <a:solidFill>
            <a:srgbClr val="F5E6C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145536"/>
            <a:ext cx="6339840" cy="585216"/>
          </a:xfrm>
          <a:prstGeom prst="rect">
            <a:avLst/>
          </a:prstGeom>
          <a:solidFill>
            <a:srgbClr val="F5E6C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" y="3206496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5608320" y="3206496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365760" y="3828288"/>
            <a:ext cx="4876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828288"/>
            <a:ext cx="6339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680" y="3889248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5608320" y="3889248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733" dirty="0"/>
          </a:p>
        </p:txBody>
      </p:sp>
      <p:sp>
        <p:nvSpPr>
          <p:cNvPr id="25" name="Shape 23"/>
          <p:cNvSpPr/>
          <p:nvPr/>
        </p:nvSpPr>
        <p:spPr>
          <a:xfrm>
            <a:off x="365760" y="4511040"/>
            <a:ext cx="4876800" cy="585216"/>
          </a:xfrm>
          <a:prstGeom prst="rect">
            <a:avLst/>
          </a:prstGeom>
          <a:solidFill>
            <a:srgbClr val="F5E6C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4511040"/>
            <a:ext cx="6339840" cy="585216"/>
          </a:xfrm>
          <a:prstGeom prst="rect">
            <a:avLst/>
          </a:prstGeom>
          <a:solidFill>
            <a:srgbClr val="F5E6C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" y="4572000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5608320" y="4572000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733" dirty="0"/>
          </a:p>
        </p:txBody>
      </p:sp>
      <p:sp>
        <p:nvSpPr>
          <p:cNvPr id="29" name="Shape 27"/>
          <p:cNvSpPr/>
          <p:nvPr/>
        </p:nvSpPr>
        <p:spPr>
          <a:xfrm>
            <a:off x="365760" y="5193792"/>
            <a:ext cx="4876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5193792"/>
            <a:ext cx="6339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680" y="5254752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5608320" y="5254752"/>
            <a:ext cx="5974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Students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HireSmart?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skill-based recruitment portal</a:t>
            </a:r>
            <a:endParaRPr lang="en-US" sz="1867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870" dirty="0">
                <a:latin typeface="Calibri" panose="020F0502020204030204" pitchFamily="34" charset="0"/>
                <a:cs typeface="Calibri" panose="020F0502020204030204" pitchFamily="34" charset="0"/>
              </a:rPr>
              <a:t> The system automatically compares resumes with jobs and finds the best match.</a:t>
            </a:r>
            <a:endParaRPr lang="en-US" sz="187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Students provide skills, experience, and resumes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a Match Score against specific job requirements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hiring from OTP registration to final acceptance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Student, HR, Admin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 and human error in recruitment</a:t>
            </a:r>
            <a:endParaRPr lang="en-US" sz="1867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146304" cy="6760464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Tools</a:t>
            </a:r>
            <a:endParaRPr lang="en-US" sz="4800" u="sng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C8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powering HireSmart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 &amp; CSS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61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48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markup language for web pages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Login, Signup, Dashboard, Job pages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forms for resume &amp; job applications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text, buttons, and input fields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644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644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visual appearance &amp; layout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website attractive and modern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dashboards, buttons, forms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responsiveness &amp; better UX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61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48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Python web framework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user authentication with OTP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resume and job data storage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job application system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AI job matching logic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644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&amp; VS Code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644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lightweight embedded database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student, HR, job, and application data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lightweight, powerful code editor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for Django &amp; Python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debugging and auto-suggestions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146304" cy="6760464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Study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vs. HireSmart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– Problems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870" dirty="0">
                <a:latin typeface="Calibri" panose="020F0502020204030204" pitchFamily="34" charset="0"/>
                <a:cs typeface="Calibri" panose="020F0502020204030204" pitchFamily="34" charset="0"/>
              </a:rPr>
              <a:t>  Checking resumes by hand takes too much time.</a:t>
            </a:r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professionals review each resume individually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chances of human error and missed candidates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skill-to-job matching system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apply without knowing if skills match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filtering of candidates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 communication system between HR and students</a:t>
            </a:r>
          </a:p>
          <a:p>
            <a:pPr marL="457189" indent="-457189">
              <a:spcAft>
                <a:spcPts val="533"/>
              </a:spcAft>
              <a:buSzPct val="100000"/>
              <a:buFontTx/>
              <a:buChar char="•"/>
            </a:pPr>
            <a:r>
              <a:rPr lang="en-IN" sz="1870" dirty="0">
                <a:latin typeface="Calibri" panose="020F0502020204030204" pitchFamily="34" charset="0"/>
                <a:cs typeface="Calibri" panose="020F0502020204030204" pitchFamily="34" charset="0"/>
              </a:rPr>
              <a:t>Difficult to manage large data</a:t>
            </a:r>
            <a:endParaRPr lang="en-US" sz="187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endParaRPr lang="en-US" sz="1867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– HireSmart Features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487680" y="1046259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87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1870" dirty="0" err="1">
                <a:latin typeface="Calibri" panose="020F0502020204030204" pitchFamily="34" charset="0"/>
                <a:cs typeface="Calibri" panose="020F0502020204030204" pitchFamily="34" charset="0"/>
              </a:rPr>
              <a:t>HireSmart</a:t>
            </a:r>
            <a:r>
              <a:rPr lang="en-IN" sz="1870" dirty="0">
                <a:latin typeface="Calibri" panose="020F0502020204030204" pitchFamily="34" charset="0"/>
                <a:cs typeface="Calibri" panose="020F0502020204030204" pitchFamily="34" charset="0"/>
              </a:rPr>
              <a:t> is a web-based job portal using AI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70" dirty="0">
                <a:latin typeface="Calibri" panose="020F0502020204030204" pitchFamily="34" charset="0"/>
                <a:cs typeface="Calibri" panose="020F0502020204030204" pitchFamily="34" charset="0"/>
              </a:rPr>
              <a:t>  Match percentage shows suitability</a:t>
            </a:r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create resumes and apply for jobs easily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posts vacancies and views ranked applicants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percentage helps HR shortlist best candidates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system between HR and students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efficient, and error-free hiring workflow</a:t>
            </a:r>
            <a:endParaRPr lang="en-US" sz="1867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Proposed System</a:t>
            </a:r>
            <a:endParaRPr lang="en-US" sz="2667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40F2221-6992-C5CC-76F6-6FC602789485}"/>
              </a:ext>
            </a:extLst>
          </p:cNvPr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Provides an online platform for students and HR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Automates the recruitment process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Uses AI to match resumes with job requirements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Helps students find suitable jobs easily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Helps HR shortlist best candidates quickly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resume creation and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Enables communication between HR and students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Reduces time and effort in the hiring process </a:t>
            </a:r>
            <a:endParaRPr lang="en-US" sz="1867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Build an intelligent job portal connecting students &amp; HR using AI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recruitment process end-to-end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IN" sz="1870" dirty="0"/>
              <a:t>To match resumes with job requirements using AI</a:t>
            </a:r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find suitable jobs based on their skills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user-friendly and interactive platform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8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communication between HR and students</a:t>
            </a:r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IN" sz="1870" dirty="0"/>
              <a:t>To help HR shortlist the best candidates quickly</a:t>
            </a:r>
            <a:endParaRPr lang="en-US" sz="187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146304" cy="6760464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4800" u="sng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C8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• Technical • Economic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 at a Glance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04800" y="1341120"/>
            <a:ext cx="3657600" cy="4267200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4800" y="1402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304800" y="2133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426720" y="2804160"/>
            <a:ext cx="3413760" cy="262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registration &amp; OTP login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resume interface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job search &amp; apply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 percentage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Easy system for both students and HR</a:t>
            </a: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1341120"/>
            <a:ext cx="3657600" cy="4267200"/>
          </a:xfrm>
          <a:prstGeom prst="rect">
            <a:avLst/>
          </a:prstGeom>
          <a:solidFill>
            <a:srgbClr val="F5E6C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06240" y="1402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733" dirty="0"/>
          </a:p>
        </p:txBody>
      </p:sp>
      <p:sp>
        <p:nvSpPr>
          <p:cNvPr id="11" name="Text 9"/>
          <p:cNvSpPr/>
          <p:nvPr/>
        </p:nvSpPr>
        <p:spPr>
          <a:xfrm>
            <a:off x="4206240" y="2133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4328160" y="2804160"/>
            <a:ext cx="3413760" cy="262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web interface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engine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via Django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accessible – no install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7680" y="1341120"/>
            <a:ext cx="3657600" cy="4267200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7680" y="1402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3733" dirty="0"/>
          </a:p>
        </p:txBody>
      </p:sp>
      <p:sp>
        <p:nvSpPr>
          <p:cNvPr id="15" name="Text 13"/>
          <p:cNvSpPr/>
          <p:nvPr/>
        </p:nvSpPr>
        <p:spPr>
          <a:xfrm>
            <a:off x="8107680" y="2133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8229600" y="2804160"/>
            <a:ext cx="3413760" cy="262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(VS Code, Django, SQLite)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licenses needed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maintenance cost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hiring costs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for students &amp; HR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146304" cy="6760464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4800" u="sng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C8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Requirements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 – Requirements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61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48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via email &amp; OTP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/ logout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update resume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skills, education, experience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apply for jobs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match percentage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messages from HR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644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644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interface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on job apply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data handling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navigation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 – Requirements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61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48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HR login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new job vacancies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skills &amp; experience needed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applicants per job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match percentage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applications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selected candidates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644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644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multiple applicants efficiently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loading of applicant data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HR access control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dashboard design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AI Matching Modules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61760" y="1036320"/>
            <a:ext cx="5364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48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login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 &amp; HR accounts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activity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job postings</a:t>
            </a:r>
            <a:endParaRPr lang="en-US" sz="17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integrity &amp; security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644640" y="109728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C1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Module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644640" y="1584960"/>
            <a:ext cx="487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0" dirty="0"/>
              <a:t>Compare resume and job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0" dirty="0"/>
              <a:t>Check skills and experience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IN" sz="1730" dirty="0"/>
              <a:t>Find how much they match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final match score (%)</a:t>
            </a:r>
            <a:endParaRPr lang="en-US" sz="173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0" dirty="0"/>
              <a:t>Helps find best candidates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146304" cy="6760464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4800" u="sng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C8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• Activity • Class Diagrams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08" y="1"/>
            <a:ext cx="9367177" cy="6858000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-9919" y="2"/>
            <a:ext cx="79451" cy="6980253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676" y="2859371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– Key Flows</a:t>
            </a:r>
          </a:p>
          <a:p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endParaRPr lang="en-US" sz="1867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BDF5A2E-6204-4F3B-98DC-D42FDE6A8B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9298" y="-1737866"/>
            <a:ext cx="6579159" cy="657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68946F3-D85E-4AF9-8C44-7917BCE5D0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3504184" cy="350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08ABA6AC-B56A-4AD0-9E3F-C3A2419C3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391" y="0"/>
            <a:ext cx="37948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– Overview</a:t>
            </a:r>
            <a:endParaRPr lang="en-US" sz="2667" dirty="0"/>
          </a:p>
        </p:txBody>
      </p:sp>
      <p:sp>
        <p:nvSpPr>
          <p:cNvPr id="7" name="Text 5"/>
          <p:cNvSpPr/>
          <p:nvPr/>
        </p:nvSpPr>
        <p:spPr>
          <a:xfrm>
            <a:off x="304800" y="1072896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28160" y="1072896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50080" y="1706880"/>
            <a:ext cx="341376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8351520" y="1072896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73440" y="1706880"/>
            <a:ext cx="341376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endParaRPr lang="en-US" sz="1733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E9582A-C3F9-42B6-873B-CD3E7D5B5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362" y="829056"/>
            <a:ext cx="5522188" cy="602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BA456376-7E09-4560-B2D6-3917F47522F7}"/>
              </a:ext>
            </a:extLst>
          </p:cNvPr>
          <p:cNvSpPr/>
          <p:nvPr/>
        </p:nvSpPr>
        <p:spPr>
          <a:xfrm>
            <a:off x="69533" y="-1"/>
            <a:ext cx="5743817" cy="6858000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2AC9E3FC-140A-44F0-BA7D-1470A7F27EBE}"/>
              </a:ext>
            </a:extLst>
          </p:cNvPr>
          <p:cNvSpPr/>
          <p:nvPr/>
        </p:nvSpPr>
        <p:spPr>
          <a:xfrm flipH="1">
            <a:off x="-9919" y="2"/>
            <a:ext cx="79451" cy="6980253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DFDF590C-59D7-4F1F-ADFC-9647AB7E73CC}"/>
              </a:ext>
            </a:extLst>
          </p:cNvPr>
          <p:cNvSpPr/>
          <p:nvPr/>
        </p:nvSpPr>
        <p:spPr>
          <a:xfrm>
            <a:off x="237676" y="2859371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– Key Flows</a:t>
            </a:r>
          </a:p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(Student)</a:t>
            </a:r>
            <a:endParaRPr lang="en-US" sz="2667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0FFBFED-E58B-4ACD-951D-02B50D4C5D25}"/>
              </a:ext>
            </a:extLst>
          </p:cNvPr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endParaRPr lang="en-US" sz="1867" dirty="0"/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15ED265D-E010-41AF-9EEE-9424EC8174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9298" y="-1737866"/>
            <a:ext cx="6579159" cy="657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C45392F6-9930-4A4B-982A-0D8A84F7C1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3504184" cy="350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F0361D6-36B1-4EAF-B8C3-19FE29A37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046" y="0"/>
            <a:ext cx="657915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F6E818-B818-4243-88F4-15D4256BBF96}"/>
              </a:ext>
            </a:extLst>
          </p:cNvPr>
          <p:cNvSpPr/>
          <p:nvPr/>
        </p:nvSpPr>
        <p:spPr>
          <a:xfrm>
            <a:off x="69534" y="-141413"/>
            <a:ext cx="5743817" cy="6858000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CF5DF0-4270-49BA-A049-3F14FB0FD203}"/>
              </a:ext>
            </a:extLst>
          </p:cNvPr>
          <p:cNvSpPr/>
          <p:nvPr/>
        </p:nvSpPr>
        <p:spPr>
          <a:xfrm flipH="1">
            <a:off x="-9919" y="2"/>
            <a:ext cx="79451" cy="6980253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233D14-14FB-4A2F-B0E1-C7EB375B43D5}"/>
              </a:ext>
            </a:extLst>
          </p:cNvPr>
          <p:cNvSpPr/>
          <p:nvPr/>
        </p:nvSpPr>
        <p:spPr>
          <a:xfrm>
            <a:off x="237676" y="2859371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– Key Flows</a:t>
            </a:r>
          </a:p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(HR)</a:t>
            </a:r>
            <a:endParaRPr lang="en-US" sz="26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849BD7-0982-4223-B371-22DA2964D880}"/>
              </a:ext>
            </a:extLst>
          </p:cNvPr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endParaRPr lang="en-US" sz="1867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081C72A-B56E-4A18-9724-77F7EA663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9298" y="-1737866"/>
            <a:ext cx="6579159" cy="657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3EDE524F-3E3F-46D4-BE3E-C3F20B73D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3504184" cy="350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D743BD-7006-48E9-9EA9-018332F2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351" y="-1"/>
            <a:ext cx="641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05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B124BC-9268-43C1-AF95-C3892CF9F7FA}"/>
              </a:ext>
            </a:extLst>
          </p:cNvPr>
          <p:cNvSpPr/>
          <p:nvPr/>
        </p:nvSpPr>
        <p:spPr>
          <a:xfrm>
            <a:off x="69533" y="-1"/>
            <a:ext cx="5743817" cy="6858000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AB0A42-2037-4906-B863-365351EA29A2}"/>
              </a:ext>
            </a:extLst>
          </p:cNvPr>
          <p:cNvSpPr/>
          <p:nvPr/>
        </p:nvSpPr>
        <p:spPr>
          <a:xfrm flipH="1">
            <a:off x="-9919" y="2"/>
            <a:ext cx="79451" cy="6980253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864FA1-1612-4B78-80BE-5F59B16B408C}"/>
              </a:ext>
            </a:extLst>
          </p:cNvPr>
          <p:cNvSpPr/>
          <p:nvPr/>
        </p:nvSpPr>
        <p:spPr>
          <a:xfrm>
            <a:off x="237676" y="2859371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– Key Flows</a:t>
            </a:r>
          </a:p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(Admin)</a:t>
            </a:r>
            <a:endParaRPr lang="en-US" sz="26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182913-2443-4B3E-BC7D-1F64E3F48405}"/>
              </a:ext>
            </a:extLst>
          </p:cNvPr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endParaRPr lang="en-US" sz="1867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892684A-6484-4A55-89AF-737AB2FF3A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9298" y="-1737866"/>
            <a:ext cx="6579159" cy="657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261162DE-7025-45F9-96F1-6A88E77B71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3504184" cy="350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D31259-01A3-4298-8788-1E6AAC6F3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555" y="-1"/>
            <a:ext cx="6493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3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>
            <a:extLst>
              <a:ext uri="{FF2B5EF4-FFF2-40B4-BE49-F238E27FC236}">
                <a16:creationId xmlns:a16="http://schemas.microsoft.com/office/drawing/2014/main" id="{6518069B-C349-4A79-BEBA-B9930A521C30}"/>
              </a:ext>
            </a:extLst>
          </p:cNvPr>
          <p:cNvSpPr/>
          <p:nvPr/>
        </p:nvSpPr>
        <p:spPr>
          <a:xfrm>
            <a:off x="69533" y="-1"/>
            <a:ext cx="5743817" cy="6858000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F21DC858-A555-4253-9FB7-AAD057FABA05}"/>
              </a:ext>
            </a:extLst>
          </p:cNvPr>
          <p:cNvSpPr/>
          <p:nvPr/>
        </p:nvSpPr>
        <p:spPr>
          <a:xfrm flipH="1">
            <a:off x="-9919" y="2"/>
            <a:ext cx="79451" cy="6980253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C5126F7-7CAC-48A2-B05A-19E73CD03ED9}"/>
              </a:ext>
            </a:extLst>
          </p:cNvPr>
          <p:cNvSpPr/>
          <p:nvPr/>
        </p:nvSpPr>
        <p:spPr>
          <a:xfrm>
            <a:off x="237676" y="2859371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– Key Flows</a:t>
            </a:r>
          </a:p>
          <a:p>
            <a:endParaRPr lang="en-US" sz="2667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90682986-0316-46CA-B42F-F3FC9FF2C942}"/>
              </a:ext>
            </a:extLst>
          </p:cNvPr>
          <p:cNvSpPr/>
          <p:nvPr/>
        </p:nvSpPr>
        <p:spPr>
          <a:xfrm>
            <a:off x="487680" y="1036320"/>
            <a:ext cx="1109472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endParaRPr lang="en-US" sz="1867" dirty="0"/>
          </a:p>
        </p:txBody>
      </p:sp>
      <p:sp>
        <p:nvSpPr>
          <p:cNvPr id="33" name="AutoShape 2">
            <a:extLst>
              <a:ext uri="{FF2B5EF4-FFF2-40B4-BE49-F238E27FC236}">
                <a16:creationId xmlns:a16="http://schemas.microsoft.com/office/drawing/2014/main" id="{E871008F-184C-44C6-95C2-28FED23B89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9298" y="-1737866"/>
            <a:ext cx="6579159" cy="657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34" name="AutoShape 10">
            <a:extLst>
              <a:ext uri="{FF2B5EF4-FFF2-40B4-BE49-F238E27FC236}">
                <a16:creationId xmlns:a16="http://schemas.microsoft.com/office/drawing/2014/main" id="{C7868229-B997-41C9-97D6-52CFE76DF2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3504184" cy="350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3F8AD29-500C-4A23-8489-0210FA79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351" y="-1"/>
            <a:ext cx="637865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17D3A"/>
          </a:solidFill>
          <a:ln w="12700">
            <a:solidFill>
              <a:srgbClr val="C17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8731" cy="6858000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0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4800" u="sng" dirty="0"/>
          </a:p>
        </p:txBody>
      </p:sp>
      <p:sp>
        <p:nvSpPr>
          <p:cNvPr id="5" name="Text 3"/>
          <p:cNvSpPr/>
          <p:nvPr/>
        </p:nvSpPr>
        <p:spPr>
          <a:xfrm>
            <a:off x="1828800" y="3779520"/>
            <a:ext cx="8534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C8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&amp; Screen Layouts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accounts_hr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663FD320-2E74-0ABE-61D2-7D7180EE8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50" y="2012466"/>
            <a:ext cx="8234776" cy="141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 5">
            <a:extLst>
              <a:ext uri="{FF2B5EF4-FFF2-40B4-BE49-F238E27FC236}">
                <a16:creationId xmlns:a16="http://schemas.microsoft.com/office/drawing/2014/main" id="{3E16CD8F-BD05-9000-0F40-F917EC2BD8C9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accounts_job</a:t>
            </a:r>
            <a:endParaRPr lang="en-US" sz="1600" dirty="0"/>
          </a:p>
        </p:txBody>
      </p:sp>
      <p:pic>
        <p:nvPicPr>
          <p:cNvPr id="2051" name="Picture 1">
            <a:extLst>
              <a:ext uri="{FF2B5EF4-FFF2-40B4-BE49-F238E27FC236}">
                <a16:creationId xmlns:a16="http://schemas.microsoft.com/office/drawing/2014/main" id="{BE8838C2-4F2E-620A-9D1C-6F960F8CF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50" y="4800599"/>
            <a:ext cx="8234775" cy="1560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C2746B-8BA0-207A-0C66-D79F32F9E13E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F7B367-3D66-8639-4A54-9F69F56BDFDF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7DACF2-DE5C-E3AE-7B25-C5A5F0217BDC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632407-13E5-5161-EBA5-0FABC7CCFA3A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6A27B8B-63AB-A214-03EB-246B7EA2AA44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accounts_jobapplication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29A3226-983C-35A5-A7F6-12240E622535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B9C01EB-42B4-CB7E-0823-E4E6C5BE5FE3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accounts_loginhistory</a:t>
            </a:r>
            <a:endParaRPr lang="en-US" sz="1600" dirty="0"/>
          </a:p>
        </p:txBody>
      </p:sp>
      <p:pic>
        <p:nvPicPr>
          <p:cNvPr id="3075" name="Picture 1">
            <a:extLst>
              <a:ext uri="{FF2B5EF4-FFF2-40B4-BE49-F238E27FC236}">
                <a16:creationId xmlns:a16="http://schemas.microsoft.com/office/drawing/2014/main" id="{D87AD716-0924-6FF8-D3CD-252DE1619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50" y="1817546"/>
            <a:ext cx="8234775" cy="1681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1">
            <a:extLst>
              <a:ext uri="{FF2B5EF4-FFF2-40B4-BE49-F238E27FC236}">
                <a16:creationId xmlns:a16="http://schemas.microsoft.com/office/drawing/2014/main" id="{40875E7C-0E50-4EA2-D379-D60103F3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9" y="4750903"/>
            <a:ext cx="8234775" cy="14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4587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8C6DA5-AA96-020E-1451-1930751E33E4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501A1D-97DF-FC8C-8B00-3140D873B2D1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8A8BC7-6D17-D1E1-DF3D-CBBA2CB69DFD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F9CE69-F259-BD19-E7DA-76613E6C8190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4F59A35-BEAF-FDD2-FB46-41A3F4E1EF8A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accounts_message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2BB9C81-2283-4922-423B-C73F939299F0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7218C42-D3A6-2AED-EE07-02840DF86657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accounts_rating</a:t>
            </a:r>
            <a:endParaRPr lang="en-US" sz="1600" dirty="0"/>
          </a:p>
        </p:txBody>
      </p:sp>
      <p:pic>
        <p:nvPicPr>
          <p:cNvPr id="4098" name="Picture 1">
            <a:extLst>
              <a:ext uri="{FF2B5EF4-FFF2-40B4-BE49-F238E27FC236}">
                <a16:creationId xmlns:a16="http://schemas.microsoft.com/office/drawing/2014/main" id="{6EE5DD6B-3E32-BE53-3D1D-0A0E19C59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9" y="2101448"/>
            <a:ext cx="8234775" cy="14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1">
            <a:extLst>
              <a:ext uri="{FF2B5EF4-FFF2-40B4-BE49-F238E27FC236}">
                <a16:creationId xmlns:a16="http://schemas.microsoft.com/office/drawing/2014/main" id="{B5C538DE-7435-A38E-2763-CDC824444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4824952"/>
            <a:ext cx="8234775" cy="131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844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B24944-994B-BB9A-92D8-445C511ED63D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3E3A75-DC0C-7DD9-D02D-AC6AC6C008AB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FA80F3-E2ED-5A0B-C7D0-6FC426913E01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8B2A7A-2917-E0C4-F712-82D652E32AF6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87442EF-55DD-5912-2D13-5AE00B08D23F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accounts_message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DD12196-91FA-D56A-E2DA-479FB9F05505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0D0E2A5-1DF5-5F99-8E4C-8406D4D65BD0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accounts_rating</a:t>
            </a:r>
            <a:endParaRPr lang="en-US" sz="1600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D011DFB6-AA5E-82E6-193C-092AB9FC3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9" y="2101448"/>
            <a:ext cx="8234775" cy="14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C2813A24-BDEC-0B33-E2C9-CFA7D3C72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4824952"/>
            <a:ext cx="8234775" cy="131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053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3C9001-79E8-0155-5409-805F91296B50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7DBBBB-C7CC-7389-B06A-7C8179B00DDB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DDB4EA-3866-2330-CA21-637640518A54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6415B7-5F19-FC1E-6B6A-4E7B01FD9985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DAEB4F8-F1B5-5218-0E39-131785FB70D6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accounts_resume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5400100-5870-6990-6B5E-AEAA725D2F42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EA2779C-A155-B07A-F127-914515F53A47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accounts_student</a:t>
            </a:r>
            <a:endParaRPr lang="en-US" sz="1600" dirty="0"/>
          </a:p>
        </p:txBody>
      </p:sp>
      <p:pic>
        <p:nvPicPr>
          <p:cNvPr id="1027" name="Picture 1">
            <a:extLst>
              <a:ext uri="{FF2B5EF4-FFF2-40B4-BE49-F238E27FC236}">
                <a16:creationId xmlns:a16="http://schemas.microsoft.com/office/drawing/2014/main" id="{5E79F024-9AE4-9D9F-C2FD-C67CE24BE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2033048"/>
            <a:ext cx="8234775" cy="1644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>
            <a:extLst>
              <a:ext uri="{FF2B5EF4-FFF2-40B4-BE49-F238E27FC236}">
                <a16:creationId xmlns:a16="http://schemas.microsoft.com/office/drawing/2014/main" id="{479C6D8E-3A7D-C20C-6DEF-443B508BD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4824953"/>
            <a:ext cx="8234775" cy="1774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0181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0FF192-CAF3-72C0-C649-12E1C8E4DDF3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3FF712-6125-6190-56DD-16279418257E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675BAD-3728-373A-5243-73248677158E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DDD6FC-8A9B-5F76-2B42-D7A880C8FD33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2491435-9431-69F2-2898-4A5AD1818F2B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auth_group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0A44872-DA33-867C-D589-11C64FC579FC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C29E1A8-7601-7A06-BDE2-AB4F383A1DCD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auth_group_permission</a:t>
            </a:r>
            <a:endParaRPr lang="en-US" sz="1600" dirty="0"/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5645721F-CAC3-737A-50BC-0D35DD43C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7" y="2181955"/>
            <a:ext cx="8234776" cy="1495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1">
            <a:extLst>
              <a:ext uri="{FF2B5EF4-FFF2-40B4-BE49-F238E27FC236}">
                <a16:creationId xmlns:a16="http://schemas.microsoft.com/office/drawing/2014/main" id="{A247E3A1-9D18-9C62-B5B1-6F4C37460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7" y="4824953"/>
            <a:ext cx="8234776" cy="1387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023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522637-2129-29D2-CD55-37E289F783E7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89C262-5A09-CD8F-D281-0B2F0C89F4E6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0359C2-A92B-A051-9733-1EF34515949D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EA122C-7436-01EE-2398-98EFA4184EFE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BC30616-1B7D-657F-738C-68EF3C0E2217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auth_permission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BCCE12F-0AAF-5456-F3A9-FAF1557B402D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6B8A063-7428-D4A7-E902-F6D39AF60E8C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</a:t>
            </a:r>
            <a:endParaRPr lang="en-US" sz="1600" dirty="0"/>
          </a:p>
        </p:txBody>
      </p:sp>
      <p:pic>
        <p:nvPicPr>
          <p:cNvPr id="3074" name="Picture 1">
            <a:extLst>
              <a:ext uri="{FF2B5EF4-FFF2-40B4-BE49-F238E27FC236}">
                <a16:creationId xmlns:a16="http://schemas.microsoft.com/office/drawing/2014/main" id="{70B93ACB-77D5-4DE1-00A4-9EA018AB7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7" y="2033047"/>
            <a:ext cx="8234776" cy="1644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">
            <a:extLst>
              <a:ext uri="{FF2B5EF4-FFF2-40B4-BE49-F238E27FC236}">
                <a16:creationId xmlns:a16="http://schemas.microsoft.com/office/drawing/2014/main" id="{F8E94D07-5982-5F58-70E2-535B3C1CD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4824953"/>
            <a:ext cx="8234776" cy="1644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2311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FA94DF-4376-96A7-320D-440501E0ADFF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D8E31D-E7D0-3DF2-7DB3-858F98C16C2E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29F710-FCB0-FE60-BC1F-08C2773144AF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ED9B3B-FCC0-6944-EA9C-033B22F70EDC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86FCE3D7-EBD9-A4C8-2F5A-1849C55A5693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auth_user_groups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9B7339C-6D34-895D-FBA6-ABD95B3A79D6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EEBB4C1-72B0-D0BA-78F1-8853175AE490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auth_user_permission</a:t>
            </a:r>
            <a:endParaRPr lang="en-US" sz="1600" dirty="0"/>
          </a:p>
        </p:txBody>
      </p:sp>
      <p:pic>
        <p:nvPicPr>
          <p:cNvPr id="4098" name="Picture 1">
            <a:extLst>
              <a:ext uri="{FF2B5EF4-FFF2-40B4-BE49-F238E27FC236}">
                <a16:creationId xmlns:a16="http://schemas.microsoft.com/office/drawing/2014/main" id="{6B071DCF-2018-C87F-6DA2-7616A25C7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1927243"/>
            <a:ext cx="8234776" cy="174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1">
            <a:extLst>
              <a:ext uri="{FF2B5EF4-FFF2-40B4-BE49-F238E27FC236}">
                <a16:creationId xmlns:a16="http://schemas.microsoft.com/office/drawing/2014/main" id="{0DB0687E-B376-4EFC-548F-485E68F30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4824953"/>
            <a:ext cx="8234776" cy="160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4518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2A07F5-E57D-3595-DE94-C525FEAD0532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7C066B-CDCE-C4E7-D06D-83E6B086966D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540446-869E-2349-70AD-A2721296CD58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E36E34-D52E-EF49-FACC-1280D68D8D03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2A1E927-30AA-8C28-8ADA-F1D80B4F63A8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django_admin_log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1487196-CFB5-1BD2-1846-B0AA8ADFB3FB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FA7BBD4-0089-4826-AC39-76979D443A5A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django_content_type</a:t>
            </a:r>
            <a:endParaRPr lang="en-US" sz="1600" dirty="0"/>
          </a:p>
        </p:txBody>
      </p:sp>
      <p:pic>
        <p:nvPicPr>
          <p:cNvPr id="5122" name="Picture 1">
            <a:extLst>
              <a:ext uri="{FF2B5EF4-FFF2-40B4-BE49-F238E27FC236}">
                <a16:creationId xmlns:a16="http://schemas.microsoft.com/office/drawing/2014/main" id="{F22A6869-4BF2-460D-DCD4-E700B1195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2033047"/>
            <a:ext cx="8234776" cy="1644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1">
            <a:extLst>
              <a:ext uri="{FF2B5EF4-FFF2-40B4-BE49-F238E27FC236}">
                <a16:creationId xmlns:a16="http://schemas.microsoft.com/office/drawing/2014/main" id="{EF70D757-0C90-6AEF-61EA-3C05CE12E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8" y="4913550"/>
            <a:ext cx="8234776" cy="1308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81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614320-555A-1986-FB2C-1BD9CC2C7C27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0A00F9-8CBD-D99C-4846-97D6605E71DD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2F6483-AA96-00FB-8424-9A75EF70FAFD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612038C-DCA7-0D1C-DCC2-4F1582161108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AF0146C-1FC0-FACB-2439-6DC341DEC1EB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django_migration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A4A9EF5-DD76-12AD-A22D-6CDED377B830}"/>
              </a:ext>
            </a:extLst>
          </p:cNvPr>
          <p:cNvSpPr/>
          <p:nvPr/>
        </p:nvSpPr>
        <p:spPr>
          <a:xfrm>
            <a:off x="365760" y="3958414"/>
            <a:ext cx="42672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CB4045-59FC-E32A-0E27-5AAAC7FFA070}"/>
              </a:ext>
            </a:extLst>
          </p:cNvPr>
          <p:cNvSpPr/>
          <p:nvPr/>
        </p:nvSpPr>
        <p:spPr>
          <a:xfrm>
            <a:off x="487680" y="4037662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django_session</a:t>
            </a:r>
            <a:endParaRPr lang="en-US" sz="1600" dirty="0"/>
          </a:p>
        </p:txBody>
      </p:sp>
      <p:pic>
        <p:nvPicPr>
          <p:cNvPr id="6146" name="Picture 1">
            <a:extLst>
              <a:ext uri="{FF2B5EF4-FFF2-40B4-BE49-F238E27FC236}">
                <a16:creationId xmlns:a16="http://schemas.microsoft.com/office/drawing/2014/main" id="{29D444FA-0867-E17D-81FF-D25A9A58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49" y="2015840"/>
            <a:ext cx="8234776" cy="1572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1">
            <a:extLst>
              <a:ext uri="{FF2B5EF4-FFF2-40B4-BE49-F238E27FC236}">
                <a16:creationId xmlns:a16="http://schemas.microsoft.com/office/drawing/2014/main" id="{51A434AC-8D34-C4DD-661D-75287274F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850" y="4913549"/>
            <a:ext cx="8234776" cy="140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9227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8A2A48-359A-84F6-43F0-072858AA63EB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F3935E-4925-9FB9-1078-100BAA08FC7E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E2B1A3-EF2B-1102-5183-1075307043F9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Database Tables</a:t>
            </a:r>
            <a:endParaRPr lang="en-US" sz="26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ACB763-2473-015A-9C9D-4FBE4CF70AAC}"/>
              </a:ext>
            </a:extLst>
          </p:cNvPr>
          <p:cNvSpPr/>
          <p:nvPr/>
        </p:nvSpPr>
        <p:spPr>
          <a:xfrm>
            <a:off x="365760" y="1060704"/>
            <a:ext cx="4267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AC0A293-4BFE-46E6-AC2B-BBB21A0835BA}"/>
              </a:ext>
            </a:extLst>
          </p:cNvPr>
          <p:cNvSpPr/>
          <p:nvPr/>
        </p:nvSpPr>
        <p:spPr>
          <a:xfrm>
            <a:off x="487680" y="1133856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sqlite_sequence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71" name="Picture 1">
            <a:extLst>
              <a:ext uri="{FF2B5EF4-FFF2-40B4-BE49-F238E27FC236}">
                <a16:creationId xmlns:a16="http://schemas.microsoft.com/office/drawing/2014/main" id="{F1C8B588-308E-F579-54E8-20A89ECC9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958" y="2107096"/>
            <a:ext cx="9046668" cy="110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723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92CCBC-464B-9598-D898-53663D6BB753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22F478-417F-251D-978E-91C08ABE8E40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7F25FD-54D4-C8A8-0A7D-55EEC86D5BB7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pic>
        <p:nvPicPr>
          <p:cNvPr id="10242" name="Picture 1">
            <a:extLst>
              <a:ext uri="{FF2B5EF4-FFF2-40B4-BE49-F238E27FC236}">
                <a16:creationId xmlns:a16="http://schemas.microsoft.com/office/drawing/2014/main" id="{509FE309-5935-7690-3AD6-42CD09893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234" y="937260"/>
            <a:ext cx="5943600" cy="24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5EDB0527-BFB8-06F5-36D6-13068236E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8572E06F-D482-DD83-ADBE-ADF7F344F542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A622AE91-E17C-0075-15C5-E7B7605EE6D0}"/>
              </a:ext>
            </a:extLst>
          </p:cNvPr>
          <p:cNvSpPr/>
          <p:nvPr/>
        </p:nvSpPr>
        <p:spPr>
          <a:xfrm>
            <a:off x="30480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FD7D3BA-4874-E7F3-AE01-E6654B1E4075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322A45F-CC6E-8FC9-6750-BEB958507A6E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role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8F22A4E-657F-4F35-30D0-87F2E32B4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059" y="4134953"/>
            <a:ext cx="5946775" cy="2458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7948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13E80E-61E3-2EA8-E98C-01D263494647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E260AE-1AC1-6EF2-72B3-8B51FC69E4B5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3B8824-B0FA-ACE7-2FC3-73C0D6999F5B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27C827B-9F6B-9944-C12F-DD4021156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B2F2A30-94E5-C63D-773D-0F61380FBA8D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18DB09F-FF99-F024-5B6B-EBA5987C5888}"/>
              </a:ext>
            </a:extLst>
          </p:cNvPr>
          <p:cNvSpPr/>
          <p:nvPr/>
        </p:nvSpPr>
        <p:spPr>
          <a:xfrm>
            <a:off x="30480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16A9912-403A-A703-1EF0-3F574D5F50EA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C66EE56B-4275-306D-E39A-CBE500EF5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334" y="1149495"/>
            <a:ext cx="5940425" cy="243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3B379755-B156-9D65-A2D3-A5D81301F68F}"/>
              </a:ext>
            </a:extLst>
          </p:cNvPr>
          <p:cNvSpPr/>
          <p:nvPr/>
        </p:nvSpPr>
        <p:spPr>
          <a:xfrm>
            <a:off x="548640" y="504206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account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2" name="Picture 31">
            <a:extLst>
              <a:ext uri="{FF2B5EF4-FFF2-40B4-BE49-F238E27FC236}">
                <a16:creationId xmlns:a16="http://schemas.microsoft.com/office/drawing/2014/main" id="{8E8033F7-750C-0F29-40F0-76C647012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414" y="4174434"/>
            <a:ext cx="5946775" cy="243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5769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7C0AF4-5B0C-F52E-0874-8F9D0A439651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1E67C5-CEE5-216B-3F32-FDCE6BF85651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94B723-EF97-34D6-DEAA-3E905845BC12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C418CF-6812-A2ED-E8DC-4281C77FC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A2A730DC-832C-FEF7-84F1-498C799D511A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B4BB0B7-7495-CAAF-2B61-30921D86A048}"/>
              </a:ext>
            </a:extLst>
          </p:cNvPr>
          <p:cNvSpPr/>
          <p:nvPr/>
        </p:nvSpPr>
        <p:spPr>
          <a:xfrm>
            <a:off x="30480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58D1E52-1B16-F249-434A-334F7FC4824D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2291" name="Picture 32">
            <a:extLst>
              <a:ext uri="{FF2B5EF4-FFF2-40B4-BE49-F238E27FC236}">
                <a16:creationId xmlns:a16="http://schemas.microsoft.com/office/drawing/2014/main" id="{FB4EA05B-BE9C-9CDC-742D-4AFF5EF51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096" y="1182761"/>
            <a:ext cx="5946775" cy="256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D1AE5A2-4D11-6E58-1D1B-5E77E216A897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resume</a:t>
            </a:r>
            <a:endParaRPr lang="en-US" sz="1600" dirty="0"/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0E5204DD-8F51-5D84-C39D-553239152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096" y="4393096"/>
            <a:ext cx="5946775" cy="2227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631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FD82ED-D600-04FF-44F2-F5AC150D5C75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BDE6E6-C045-19F2-FF71-3E7A5EB4D3EA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7DF60C-C6E2-27BF-3EFC-4CB33E8F2605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4E358B-ABA1-A992-FE0D-114956B05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11B9CE5-F8A4-BF07-811D-2291E18CC791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46ABBF-EA44-94C2-D0B2-ECA1A95E1D38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V</a:t>
            </a:r>
            <a:r>
              <a:rPr lang="en-US" sz="1600" b="1" dirty="0" err="1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iew</a:t>
            </a:r>
            <a:r>
              <a:rPr lang="en-US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 job 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728F8E6-4C87-269E-D920-B6160C1E88F8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DBCFF0A-9A54-9E64-8FD3-B2FDF86C657F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V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iew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resume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2B91D6-CE62-6A8B-2486-37B832011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36" y="1041383"/>
            <a:ext cx="5949950" cy="253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02FF92-4CDC-0979-F5CA-48975280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36" y="4086121"/>
            <a:ext cx="5949950" cy="25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86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B07FF2-37CB-9DAF-0098-BF066478E507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BDFE62-0AD0-CBBA-7A1A-1C13E662B4B3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BFF0EC-EE1E-70F1-49FA-5DCF050590D6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9844CF-E0A0-BD18-3327-A221D051F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74B48027-FC4E-18F3-2FD2-6EA4470F33DD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0E9D4B-7AC5-F9FF-FA02-B90FE56EB1DD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Student resume</a:t>
            </a:r>
            <a:r>
              <a:rPr lang="en-US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467154C-0C14-6F5C-E1AC-EE2B54B12097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EC67926-50C9-47EE-7F36-6CA0ECC1708E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M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essage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159012-B28A-F37D-950C-FDC38E04B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37" y="1127738"/>
            <a:ext cx="5949950" cy="2533680"/>
          </a:xfrm>
          <a:prstGeom prst="rect">
            <a:avLst/>
          </a:prstGeom>
        </p:spPr>
      </p:pic>
      <p:pic>
        <p:nvPicPr>
          <p:cNvPr id="8196" name="Picture 18">
            <a:extLst>
              <a:ext uri="{FF2B5EF4-FFF2-40B4-BE49-F238E27FC236}">
                <a16:creationId xmlns:a16="http://schemas.microsoft.com/office/drawing/2014/main" id="{DD3281FF-6FEE-8092-7A37-59708C11B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37" y="4013200"/>
            <a:ext cx="5949950" cy="241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9074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10BAC7-50AF-B9D4-8974-7C0863719CF8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7DDF4F-198C-B32F-0001-14DBBF1F9855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149EC1-01F1-C3FE-4ACD-DD9E3245ED0C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62C57C-8612-8204-81E4-DFAAF96AC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643DDEC1-ED2E-FE1E-481F-F107BF6CE592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77065CC-B7CE-634E-55BC-C9A97176BD99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Applicant 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845666BA-7B0A-E136-E1A3-618264477705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5599DA3-19A8-E254-AB8E-955434EF2A2F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Shortlist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564C53-64C6-1D60-DBD1-B62722C01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38" y="1129607"/>
            <a:ext cx="5949950" cy="24174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16DA06-F6E0-049E-9608-6B1C985DB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37" y="4124742"/>
            <a:ext cx="5949951" cy="241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71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AF77F8-CF40-4DDE-73AB-4F7B18BCF1CD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524F84-61EF-AC32-67C4-40BCEB08237C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B7B9FE-9A4E-8C85-776E-D3585C598E77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2F0F2B-AB35-751E-E05C-64479C0E1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CD6F2620-9F24-DB33-22FB-BF78D077D1C6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800AC4-8315-5497-4F40-A6A64FBBE2B8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Message  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C523BB1-4287-DABE-36DC-FC98E521455A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8FE3272-1A49-F45E-4D23-1137307AB4C4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Post job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966022-217A-5454-3718-00B5123ED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37" y="1068438"/>
            <a:ext cx="5949951" cy="24174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669D60-A73B-AB9B-E023-2E8414179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37" y="4046719"/>
            <a:ext cx="5949951" cy="241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526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4C447C-1266-B6DF-5645-EE229BB8FA25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63DCCF-C463-6EE3-00EA-2F112A76247B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DAF2A2-D6A2-A3EE-332F-0010D7C018A7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A503D8-A116-4170-EB36-E74E6A7F7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3E1F6AA5-F7EA-47E5-F972-F06A797676F7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70DD81-A98F-11D6-A446-F1218B098226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Dashboard   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581A690-CE1C-AD35-B1DE-41F7D5934F77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B359F4E-CC25-BCAB-061E-7249987FCA0B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Dashboard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218" name="Picture 26">
            <a:extLst>
              <a:ext uri="{FF2B5EF4-FFF2-40B4-BE49-F238E27FC236}">
                <a16:creationId xmlns:a16="http://schemas.microsoft.com/office/drawing/2014/main" id="{8EAC9DF5-32AB-B2EC-0541-4539AC94E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38" y="1101005"/>
            <a:ext cx="5949950" cy="241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27">
            <a:extLst>
              <a:ext uri="{FF2B5EF4-FFF2-40B4-BE49-F238E27FC236}">
                <a16:creationId xmlns:a16="http://schemas.microsoft.com/office/drawing/2014/main" id="{ADE4A9FF-9AED-B505-38FE-614E68C75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39" y="3847762"/>
            <a:ext cx="5949950" cy="241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1956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1E10F5-37EE-E1D1-7922-11DB9677AF5C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195A67-F0F1-8566-4AF9-DA381A0FCF57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ABAD67-4C99-F187-76E9-90B6C300D8D9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815410-6F78-2C11-B55F-6EDF516F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804E1DA6-2757-425A-2BFE-D149FA55C7CF}"/>
              </a:ext>
            </a:extLst>
          </p:cNvPr>
          <p:cNvSpPr/>
          <p:nvPr/>
        </p:nvSpPr>
        <p:spPr>
          <a:xfrm>
            <a:off x="304800" y="4952327"/>
            <a:ext cx="3581400" cy="585216"/>
          </a:xfrm>
          <a:prstGeom prst="rect">
            <a:avLst/>
          </a:prstGeom>
          <a:solidFill>
            <a:srgbClr val="EBF0DC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F0C48E-4842-AD8B-EE30-06476C404C73}"/>
              </a:ext>
            </a:extLst>
          </p:cNvPr>
          <p:cNvSpPr/>
          <p:nvPr/>
        </p:nvSpPr>
        <p:spPr>
          <a:xfrm>
            <a:off x="548640" y="503157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6B7B3A"/>
                </a:solidFill>
                <a:latin typeface="Calibri" pitchFamily="34" charset="0"/>
                <a:cs typeface="Calibri" pitchFamily="34" charset="-120"/>
              </a:rPr>
              <a:t>HR   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6526E59-0406-3463-225C-6473F05E9F4D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E33F5D3-3C27-7480-28BA-CC72205AF22D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Student 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42" name="Picture 28">
            <a:extLst>
              <a:ext uri="{FF2B5EF4-FFF2-40B4-BE49-F238E27FC236}">
                <a16:creationId xmlns:a16="http://schemas.microsoft.com/office/drawing/2014/main" id="{444CFE1F-07AC-E35C-803A-98127157F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39" y="987930"/>
            <a:ext cx="5949950" cy="238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29">
            <a:extLst>
              <a:ext uri="{FF2B5EF4-FFF2-40B4-BE49-F238E27FC236}">
                <a16:creationId xmlns:a16="http://schemas.microsoft.com/office/drawing/2014/main" id="{7A10BE47-E80B-C17F-DFC8-DF72CA814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39" y="4170902"/>
            <a:ext cx="5949950" cy="238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92527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19C9E1-6FCC-D55B-CE36-F63F84EAB733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EBF0DC"/>
          </a:solidFill>
          <a:ln w="12700">
            <a:solidFill>
              <a:srgbClr val="EBF0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0BE9B0-CC3C-5872-4D73-FBA9C2C67CD2}"/>
              </a:ext>
            </a:extLst>
          </p:cNvPr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EDD82E-B41A-57A4-1326-765D1F8E00A4}"/>
              </a:ext>
            </a:extLst>
          </p:cNvPr>
          <p:cNvSpPr/>
          <p:nvPr/>
        </p:nvSpPr>
        <p:spPr>
          <a:xfrm>
            <a:off x="304800" y="121920"/>
            <a:ext cx="1158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6B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</a:t>
            </a:r>
            <a:endParaRPr lang="en-US" sz="2667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C8C361-F084-2144-09E4-AB9B69D5C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547" y="67360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C93B7DD-C33E-DBA2-E096-E07BFF2F054C}"/>
              </a:ext>
            </a:extLst>
          </p:cNvPr>
          <p:cNvSpPr/>
          <p:nvPr/>
        </p:nvSpPr>
        <p:spPr>
          <a:xfrm>
            <a:off x="186060" y="1734985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0C8462F-960D-125A-6B39-C9BAF5BD3C3D}"/>
              </a:ext>
            </a:extLst>
          </p:cNvPr>
          <p:cNvSpPr/>
          <p:nvPr/>
        </p:nvSpPr>
        <p:spPr>
          <a:xfrm>
            <a:off x="548640" y="1785455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Jobs 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266" name="Picture 30">
            <a:extLst>
              <a:ext uri="{FF2B5EF4-FFF2-40B4-BE49-F238E27FC236}">
                <a16:creationId xmlns:a16="http://schemas.microsoft.com/office/drawing/2014/main" id="{010C964A-F998-B200-7F43-08B216C66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747" y="1237215"/>
            <a:ext cx="5943600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324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829056"/>
          </a:xfrm>
          <a:prstGeom prst="rect">
            <a:avLst/>
          </a:prstGeom>
          <a:solidFill>
            <a:srgbClr val="6B7B3A"/>
          </a:solidFill>
          <a:ln w="12700">
            <a:solidFill>
              <a:srgbClr val="6B7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800" y="288758"/>
            <a:ext cx="11506200" cy="6220415"/>
          </a:xfrm>
          <a:prstGeom prst="rect">
            <a:avLst/>
          </a:prstGeom>
          <a:solidFill>
            <a:srgbClr val="F5E6CF"/>
          </a:solidFill>
          <a:ln w="12700">
            <a:solidFill>
              <a:srgbClr val="E0DD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70570" y="2935669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5400" b="1" dirty="0">
                <a:solidFill>
                  <a:srgbClr val="C17D3A"/>
                </a:solidFill>
                <a:latin typeface="Calibri" pitchFamily="34" charset="0"/>
                <a:cs typeface="Calibri" pitchFamily="34" charset="-120"/>
              </a:rPr>
              <a:t>T</a:t>
            </a:r>
            <a:r>
              <a:rPr lang="en-US" sz="5400" b="1" dirty="0">
                <a:solidFill>
                  <a:srgbClr val="C17D3A"/>
                </a:solidFill>
                <a:latin typeface="Calibri" pitchFamily="34" charset="0"/>
                <a:cs typeface="Calibri" pitchFamily="34" charset="-120"/>
              </a:rPr>
              <a:t>hank you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</TotalTime>
  <Words>1047</Words>
  <Application>Microsoft Office PowerPoint</Application>
  <PresentationFormat>Widescreen</PresentationFormat>
  <Paragraphs>284</Paragraphs>
  <Slides>48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Nidhi Sabva</cp:lastModifiedBy>
  <cp:revision>12</cp:revision>
  <dcterms:created xsi:type="dcterms:W3CDTF">2026-04-08T18:05:47Z</dcterms:created>
  <dcterms:modified xsi:type="dcterms:W3CDTF">2026-04-09T06:32:00Z</dcterms:modified>
</cp:coreProperties>
</file>